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3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5889-4AD8-6272-DB73-AE2E9E7EF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94269-8D53-7E66-ED5E-4D97FF4E4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8DF2-1EA8-1959-3DDE-121E1A60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DBE5B-790D-6DBA-BF7F-25E64B82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62EE-FEA5-60A3-6400-70AABF68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9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4584-C2F2-407E-819F-EDE91788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12F6-30BB-3281-876A-FCEB67923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62719-E26F-97CC-CD4C-5ECBE948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1C847-2DFA-3558-37A9-8F96BB03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0799E-363C-F567-F9CA-309F2583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8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9BB9-0C23-12A7-2D56-FC8F4EAA8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9532E-E071-B1BA-6820-E06FA2B2D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69E9-FBCE-7E65-762B-921C3898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EE160-8EFC-D79E-1FC8-8EA8E7AD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FFEC-3B60-2E3D-19C7-2E173E0A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6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0AB2-DEB0-35B9-8FB0-1A3AF418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07724-3A9E-FE8F-A4D3-15A60D26D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8EEF0-9C0C-65FD-2A5A-63E547D22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C0AE0-1F17-581B-4986-E7973DAE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750CC-8C11-8C9A-6723-B4AF5623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777F9-057F-C557-58E9-1A35941F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9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2506-919C-659D-C1AF-0D331A441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DA28B-293E-F877-499D-7BE1E973D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0D45A-C3F2-89DE-78C8-CEBD93816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64C1C-CF7B-F5D2-940D-148BE349B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2BD5D-39A9-DDF5-8D1A-8107D0040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8DDA6-747B-D61A-FF47-7722A003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B787B-B0A3-A75C-31F2-A27D5DD8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B9AE1-D7D8-D69D-5584-29909C2D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5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F270-D4DB-96B2-B2EF-D6B7FF8D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D9BBD-457C-26BB-C683-D35EC142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9121A-28B8-A736-F4E5-BDAAFB68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BCABA-3698-1F36-094E-FA302449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4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7B921-C640-2253-901C-2E62A12C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EC99F-572C-25F1-06BF-7B24316B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2EB01-3723-C08A-2F1E-B9AE07EC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6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0151-AFB6-A7F4-AE3F-8AF6D245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A7408-41B8-5F1A-791A-78E92016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73AFB-D920-2D45-B000-B4FE68821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29677-C81E-9CE7-B268-319070F6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4286-6E4B-A586-31EE-EB256593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E8168-78E1-1D86-3175-E9787AF0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3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103E-EA7C-E416-FC0A-ED2D75C7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670C1-AC8E-4A31-3F76-87D92C219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1A955-B89D-C5FF-84D0-5388FD9E3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672F7-975E-7DF9-4B7C-3D0246EB7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1409F-3495-E460-B204-3E158139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FE2FA-8EFD-691D-2F7D-2C845917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1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39C3-7570-0E09-569D-07B9E415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EC2EC-AF98-EB6F-E634-8226DA7F8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850AE-B508-94AD-AD8C-018D0C39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1FB7F-4855-6809-2514-6FEC9477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DF5-3679-4C86-04B9-A506AD1A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6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0F544-CEE8-A0FC-FABD-EE0B5AE95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4C6F6-43AB-1C52-78F1-273F9BACF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1B38A-9F99-A53E-A40E-ED261457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2DD9D-17E8-28D8-5133-5111EFAC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C225-DC93-C809-374F-E941E8BE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2B31C-E700-7777-BE9D-C2951F7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B78A2-841E-F7C1-4104-095B9703D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BBF49-24D3-C0B4-531B-2DF821915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2E36C-74A7-5D43-A28A-56C76E15D24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0EC5A-8A25-418E-7211-24A68DC81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8160-CFF8-20CC-5688-F4AB12289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06D04-0735-3C4E-922C-4BC87CBBB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0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6.mp4"/><Relationship Id="rId1" Type="http://schemas.openxmlformats.org/officeDocument/2006/relationships/video" Target="NULL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AAE19-D4D1-B684-EE73-50C336054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8DA26-DDDB-B8DD-063D-A39104A4A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Hasan </a:t>
            </a:r>
            <a:r>
              <a:rPr lang="en-US" dirty="0" err="1"/>
              <a:t>Shahrestani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9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16C6-0628-F25B-5771-7C3EAB99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91D63-696A-22B5-2904-390B8BFA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Updating the encoding – Crossover and mutation</a:t>
            </a:r>
          </a:p>
          <a:p>
            <a:r>
              <a:rPr lang="en-US" dirty="0"/>
              <a:t>General Improvements</a:t>
            </a:r>
          </a:p>
          <a:p>
            <a:r>
              <a:rPr lang="en-US" dirty="0"/>
              <a:t>Testing on block pickup</a:t>
            </a:r>
          </a:p>
          <a:p>
            <a:r>
              <a:rPr lang="en-US" dirty="0"/>
              <a:t>Testing on block flipping</a:t>
            </a:r>
          </a:p>
          <a:p>
            <a:pPr lvl="1"/>
            <a:r>
              <a:rPr lang="en-US" dirty="0"/>
              <a:t>Fitness function</a:t>
            </a:r>
          </a:p>
          <a:p>
            <a:r>
              <a:rPr lang="en-US" dirty="0"/>
              <a:t>Example of rising block</a:t>
            </a:r>
          </a:p>
          <a:p>
            <a:r>
              <a:rPr lang="en-US" dirty="0"/>
              <a:t>Reading</a:t>
            </a:r>
          </a:p>
          <a:p>
            <a:pPr lvl="1"/>
            <a:r>
              <a:rPr lang="en-US" dirty="0"/>
              <a:t>Multi-objective GA search</a:t>
            </a:r>
          </a:p>
          <a:p>
            <a:pPr lvl="1"/>
            <a:r>
              <a:rPr lang="en-US" dirty="0"/>
              <a:t>Simulated Binary Crossover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7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5186-81AE-0FD3-76EC-D47329B5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the encoding – Old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7613-9529-C388-A91E-1A37E72B9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286" y="1825625"/>
            <a:ext cx="3871326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Problems:</a:t>
            </a:r>
          </a:p>
          <a:p>
            <a:pPr lvl="1">
              <a:buFontTx/>
              <a:buChar char="-"/>
            </a:pPr>
            <a:r>
              <a:rPr lang="en-US" dirty="0"/>
              <a:t>Unlimited tendons</a:t>
            </a:r>
          </a:p>
          <a:p>
            <a:pPr lvl="1">
              <a:buFontTx/>
              <a:buChar char="-"/>
            </a:pPr>
            <a:r>
              <a:rPr lang="en-US" dirty="0"/>
              <a:t>Very large search space</a:t>
            </a:r>
          </a:p>
          <a:p>
            <a:pPr lvl="1">
              <a:buFontTx/>
              <a:buChar char="-"/>
            </a:pPr>
            <a:r>
              <a:rPr lang="en-US" dirty="0"/>
              <a:t>Unstable </a:t>
            </a:r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Mutation and cross over were also not ideal</a:t>
            </a:r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8B1684E6-ED02-14B7-52A7-F46334A1D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392"/>
          <a:stretch/>
        </p:blipFill>
        <p:spPr>
          <a:xfrm>
            <a:off x="4101353" y="2242483"/>
            <a:ext cx="7672361" cy="310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5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5FC8-BA01-9640-BFD5-A1BE082E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the encoding – New version</a:t>
            </a:r>
          </a:p>
        </p:txBody>
      </p:sp>
      <p:pic>
        <p:nvPicPr>
          <p:cNvPr id="5" name="Content Placeholder 4" descr="A diagram of clothing size&#10;&#10;AI-generated content may be incorrect.">
            <a:extLst>
              <a:ext uri="{FF2B5EF4-FFF2-40B4-BE49-F238E27FC236}">
                <a16:creationId xmlns:a16="http://schemas.microsoft.com/office/drawing/2014/main" id="{C23F8A7B-C57B-67A1-F63D-8B694DC8B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2867"/>
          <a:stretch/>
        </p:blipFill>
        <p:spPr>
          <a:xfrm>
            <a:off x="3201131" y="1466562"/>
            <a:ext cx="5789737" cy="5026313"/>
          </a:xfrm>
        </p:spPr>
      </p:pic>
    </p:spTree>
    <p:extLst>
      <p:ext uri="{BB962C8B-B14F-4D97-AF65-F5344CB8AC3E}">
        <p14:creationId xmlns:p14="http://schemas.microsoft.com/office/powerpoint/2010/main" val="249850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50EA-BC9F-9F1D-6AAC-EE5C332E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crossover / mutation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DC68-5492-83F9-8816-84033B55C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SBX was used to cross over the continues stiffness, damping, length values.</a:t>
            </a:r>
          </a:p>
          <a:p>
            <a:r>
              <a:rPr lang="en-US" dirty="0"/>
              <a:t>Two point cross over of connections was used. </a:t>
            </a:r>
          </a:p>
          <a:p>
            <a:r>
              <a:rPr lang="en-US" dirty="0"/>
              <a:t>Mutation is done by adding/subtracting between 1,2,3 to a site number. (Maybe can improve this)</a:t>
            </a:r>
          </a:p>
          <a:p>
            <a:r>
              <a:rPr lang="en-US" dirty="0"/>
              <a:t>Polynomial mutation used for continues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11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2639-1303-B3C3-D3E0-0A3086CC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53F72-A456-1AD3-CE75-B4DF9178F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Fitness checks three different starting positions rather than a random one each time.</a:t>
            </a:r>
          </a:p>
          <a:p>
            <a:r>
              <a:rPr lang="en-US" dirty="0"/>
              <a:t>Allowed length to be changed also</a:t>
            </a:r>
          </a:p>
          <a:p>
            <a:r>
              <a:rPr lang="en-US" dirty="0"/>
              <a:t>Allowed tendons between arms</a:t>
            </a:r>
          </a:p>
          <a:p>
            <a:r>
              <a:rPr lang="en-US" dirty="0"/>
              <a:t>Updated encoding/crossover/mutation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994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ACFB-83B1-EB6F-F187-D10A5C55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Picking up the block – random start – length always 0</a:t>
            </a:r>
          </a:p>
        </p:txBody>
      </p:sp>
      <p:pic>
        <p:nvPicPr>
          <p:cNvPr id="4" name="best_individual.mp4">
            <a:hlinkClick r:id="" action="ppaction://media"/>
            <a:extLst>
              <a:ext uri="{FF2B5EF4-FFF2-40B4-BE49-F238E27FC236}">
                <a16:creationId xmlns:a16="http://schemas.microsoft.com/office/drawing/2014/main" id="{ACA82148-443C-EB62-9116-35FB651D957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9153" y="2174783"/>
            <a:ext cx="5502137" cy="3163700"/>
          </a:xfrm>
        </p:spPr>
      </p:pic>
      <p:pic>
        <p:nvPicPr>
          <p:cNvPr id="5" name="simulation_recording.mp4">
            <a:hlinkClick r:id="" action="ppaction://media"/>
            <a:extLst>
              <a:ext uri="{FF2B5EF4-FFF2-40B4-BE49-F238E27FC236}">
                <a16:creationId xmlns:a16="http://schemas.microsoft.com/office/drawing/2014/main" id="{075E6A7F-1293-4163-538C-DBCEEC73486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20712" y="2147890"/>
            <a:ext cx="5548859" cy="319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6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D6EF5-2D37-6116-92F1-B3D34424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Picking up the block – averaged fitness – allow length change</a:t>
            </a:r>
          </a:p>
        </p:txBody>
      </p:sp>
      <p:pic>
        <p:nvPicPr>
          <p:cNvPr id="4" name="best_individual.mp4">
            <a:hlinkClick r:id="" action="ppaction://media"/>
            <a:extLst>
              <a:ext uri="{FF2B5EF4-FFF2-40B4-BE49-F238E27FC236}">
                <a16:creationId xmlns:a16="http://schemas.microsoft.com/office/drawing/2014/main" id="{2FBA4DFC-6BB1-23D2-AA14-09A58454F77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7439" y="2241194"/>
            <a:ext cx="6039213" cy="3472516"/>
          </a:xfrm>
        </p:spPr>
      </p:pic>
      <p:pic>
        <p:nvPicPr>
          <p:cNvPr id="5" name="simulation_recording.mp4">
            <a:hlinkClick r:id="" action="ppaction://media"/>
            <a:extLst>
              <a:ext uri="{FF2B5EF4-FFF2-40B4-BE49-F238E27FC236}">
                <a16:creationId xmlns:a16="http://schemas.microsoft.com/office/drawing/2014/main" id="{A02F9C2B-5B31-CD05-830C-4296ACA60A9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970494" y="2241194"/>
            <a:ext cx="6054067" cy="34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D66C-2604-1CA0-E41C-7EACA3D6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Flipping the block – work in progress</a:t>
            </a:r>
          </a:p>
        </p:txBody>
      </p:sp>
      <p:pic>
        <p:nvPicPr>
          <p:cNvPr id="4" name="best_individual.mp4">
            <a:hlinkClick r:id="" action="ppaction://media"/>
            <a:extLst>
              <a:ext uri="{FF2B5EF4-FFF2-40B4-BE49-F238E27FC236}">
                <a16:creationId xmlns:a16="http://schemas.microsoft.com/office/drawing/2014/main" id="{CDB63A17-62B3-0271-C140-412C904A8F9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12193" y="1986990"/>
            <a:ext cx="7567613" cy="4351338"/>
          </a:xfrm>
        </p:spPr>
      </p:pic>
    </p:spTree>
    <p:extLst>
      <p:ext uri="{BB962C8B-B14F-4D97-AF65-F5344CB8AC3E}">
        <p14:creationId xmlns:p14="http://schemas.microsoft.com/office/powerpoint/2010/main" val="322653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7BA4-85FC-BECF-4B5F-6E77969D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Rising block example</a:t>
            </a:r>
          </a:p>
        </p:txBody>
      </p:sp>
      <p:pic>
        <p:nvPicPr>
          <p:cNvPr id="4" name="simulation_recording.mp4">
            <a:hlinkClick r:id="" action="ppaction://media"/>
            <a:extLst>
              <a:ext uri="{FF2B5EF4-FFF2-40B4-BE49-F238E27FC236}">
                <a16:creationId xmlns:a16="http://schemas.microsoft.com/office/drawing/2014/main" id="{B056B8A0-1615-EA39-8B69-158F8D66382D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end="4296.8885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11400" y="1825625"/>
            <a:ext cx="7567613" cy="4351338"/>
          </a:xfrm>
        </p:spPr>
      </p:pic>
    </p:spTree>
    <p:extLst>
      <p:ext uri="{BB962C8B-B14F-4D97-AF65-F5344CB8AC3E}">
        <p14:creationId xmlns:p14="http://schemas.microsoft.com/office/powerpoint/2010/main" val="28174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6D64-204A-B080-559A-1BC79A728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FF38-6816-D0A2-E00D-4D14F9384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Simulated Binary Crossover for Continues search space</a:t>
            </a:r>
          </a:p>
          <a:p>
            <a:pPr lvl="1"/>
            <a:r>
              <a:rPr lang="en-US" dirty="0"/>
              <a:t>Introduces the SBX for continues variables to match the Binary crossover to improve on simple binary encodings ( hamming cliff, precision)</a:t>
            </a:r>
          </a:p>
          <a:p>
            <a:pPr lvl="1"/>
            <a:r>
              <a:rPr lang="en-US" dirty="0"/>
              <a:t>Explains how to apply to multivariable problems</a:t>
            </a:r>
          </a:p>
          <a:p>
            <a:pPr lvl="1"/>
            <a:r>
              <a:rPr lang="en-US" dirty="0"/>
              <a:t>Shows results of using it instead of the simple method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Times"/>
              </a:rPr>
              <a:t>A Fast and Elitist </a:t>
            </a:r>
            <a:r>
              <a:rPr lang="en-GB" dirty="0" err="1">
                <a:solidFill>
                  <a:srgbClr val="000000"/>
                </a:solidFill>
                <a:effectLst/>
                <a:latin typeface="Times"/>
              </a:rPr>
              <a:t>Multiobjective</a:t>
            </a:r>
            <a:r>
              <a:rPr lang="en-GB" dirty="0">
                <a:solidFill>
                  <a:srgbClr val="000000"/>
                </a:solidFill>
                <a:effectLst/>
                <a:latin typeface="Times"/>
              </a:rPr>
              <a:t> Genetic Algorithm - NSGA-II: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Times"/>
              </a:rPr>
              <a:t>Introduces new </a:t>
            </a:r>
            <a:r>
              <a:rPr lang="en-GB" dirty="0" err="1">
                <a:solidFill>
                  <a:srgbClr val="000000"/>
                </a:solidFill>
                <a:latin typeface="Times"/>
              </a:rPr>
              <a:t>Multiobjective</a:t>
            </a:r>
            <a:r>
              <a:rPr lang="en-GB" dirty="0">
                <a:solidFill>
                  <a:srgbClr val="000000"/>
                </a:solidFill>
                <a:latin typeface="Times"/>
              </a:rPr>
              <a:t> algorithms to find ‘diverse’ solutions on the pareto-frontier faster than older methods.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Times"/>
              </a:rPr>
              <a:t>Shows results on experiments</a:t>
            </a:r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Times"/>
              </a:rPr>
              <a:t>Shows how </a:t>
            </a:r>
            <a:r>
              <a:rPr lang="en-GB" dirty="0">
                <a:solidFill>
                  <a:srgbClr val="000000"/>
                </a:solidFill>
                <a:latin typeface="Times"/>
              </a:rPr>
              <a:t>constraints can be applied also</a:t>
            </a:r>
            <a:endParaRPr lang="en-GB" dirty="0">
              <a:solidFill>
                <a:srgbClr val="000000"/>
              </a:solidFill>
              <a:effectLst/>
              <a:latin typeface="Times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19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274</Words>
  <Application>Microsoft Macintosh PowerPoint</Application>
  <PresentationFormat>Widescreen</PresentationFormat>
  <Paragraphs>44</Paragraphs>
  <Slides>11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</vt:lpstr>
      <vt:lpstr>Office Theme</vt:lpstr>
      <vt:lpstr>Meeting 7</vt:lpstr>
      <vt:lpstr>Overview</vt:lpstr>
      <vt:lpstr>Updating the encoding – Old version</vt:lpstr>
      <vt:lpstr>Updating the encoding – New version</vt:lpstr>
      <vt:lpstr>Updating crossover / mutation method </vt:lpstr>
      <vt:lpstr>General Improvements</vt:lpstr>
      <vt:lpstr>Results – Picking up the block – random start – length always 0</vt:lpstr>
      <vt:lpstr>Results – Picking up the block – averaged fitness – allow length change</vt:lpstr>
      <vt:lpstr>Flipping the block – work in progress</vt:lpstr>
      <vt:lpstr>Rising block example</vt:lpstr>
      <vt:lpstr>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shahrestani</dc:creator>
  <cp:lastModifiedBy>hassan shahrestani</cp:lastModifiedBy>
  <cp:revision>1</cp:revision>
  <dcterms:created xsi:type="dcterms:W3CDTF">2025-11-20T16:00:56Z</dcterms:created>
  <dcterms:modified xsi:type="dcterms:W3CDTF">2025-11-21T16:01:09Z</dcterms:modified>
</cp:coreProperties>
</file>